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mover o 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5E7061B-C335-46DC-AD85-767B14399376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9CAE41-2018-46DD-80D7-29E7346982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67B43-96EB-44C5-86B7-1678D6DB8A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67C317-C12E-4143-87B1-1ADAB2DC04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4D4914-3AA0-4027-9B8A-A3E12C27EA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4595B7-3606-42DE-ACAE-36D89B02C4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A4E7CF-C7EC-4F03-8F1C-6238B6B894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FA2A0B-FB41-4379-BDBC-E344D757A4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9C5B6B-8606-4E8F-8E02-CAC11F221A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E9314C-E0A3-4765-865F-EF3C74964F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B1EC91-87AD-435C-BF4F-DCB5639C97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110" y="1062450"/>
            <a:ext cx="822933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110" y="2060640"/>
            <a:ext cx="822933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0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0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2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5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583680" y="-651510"/>
            <a:ext cx="4457430" cy="4457430"/>
          </a:xfrm>
          <a:prstGeom prst="ellipse">
            <a:avLst/>
          </a:prstGeom>
          <a:solidFill>
            <a:srgbClr val="2636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269480" y="3806190"/>
            <a:ext cx="2880090" cy="2880090"/>
          </a:xfrm>
          <a:prstGeom prst="ellipse">
            <a:avLst/>
          </a:prstGeom>
          <a:solidFill>
            <a:srgbClr val="42b8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17220" y="2331720"/>
            <a:ext cx="6171930" cy="3426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42b883"/>
                </a:solidFill>
                <a:latin typeface="Calibri"/>
                <a:ea typeface="Calibri"/>
              </a:rPr>
              <a:t>DESENVOLVIMENTO WEB III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82930" y="2674620"/>
            <a:ext cx="7200630" cy="8912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Bem-vindo(a) à disciplina</a:t>
            </a:r>
            <a:endParaRPr b="0" lang="pt-BR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17220" y="3497580"/>
            <a:ext cx="6514830" cy="3426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7d6dd"/>
                </a:solidFill>
                <a:latin typeface="Calibri"/>
                <a:ea typeface="Calibri"/>
              </a:rPr>
              <a:t>Apresentação — o que você vai aprender e construir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17220" y="5589270"/>
            <a:ext cx="3428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ca0ac"/>
                </a:solidFill>
                <a:latin typeface="Calibri"/>
                <a:ea typeface="Calibri"/>
              </a:rPr>
              <a:t>Prof. Diego Rossi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779983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2f9c6e"/>
                </a:solidFill>
                <a:latin typeface="Calibri"/>
                <a:ea typeface="Calibri"/>
              </a:rPr>
              <a:t>A VISÃO GERAL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1025957"/>
            <a:ext cx="75435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a33"/>
                </a:solidFill>
                <a:latin typeface="Cambria"/>
                <a:ea typeface="Cambria"/>
              </a:rPr>
              <a:t>O que você vai construir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11480" y="1554480"/>
            <a:ext cx="795501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Esta disciplina não é sobre decorar sintaxe — é sobre construir um sistema completo, peça por peça, até ele funcionar de verdade.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411480" y="2171700"/>
            <a:ext cx="2571480" cy="3314700"/>
          </a:xfrm>
          <a:prstGeom prst="roundRect">
            <a:avLst>
              <a:gd name="adj" fmla="val 2667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651510" y="2412187"/>
            <a:ext cx="411210" cy="411210"/>
          </a:xfrm>
          <a:prstGeom prst="ellipse">
            <a:avLst/>
          </a:prstGeom>
          <a:solidFill>
            <a:srgbClr val="3549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51510" y="2412187"/>
            <a:ext cx="41121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51510" y="2994660"/>
            <a:ext cx="212571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Primeiras semanas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51510" y="3817620"/>
            <a:ext cx="2125710" cy="15316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Construindo uma API Laravel e logo depois criando u</a:t>
            </a: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m componente Vue reativo.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3003750" y="3372307"/>
            <a:ext cx="287820" cy="2740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d6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3278070" y="2171700"/>
            <a:ext cx="2571480" cy="3314700"/>
          </a:xfrm>
          <a:prstGeom prst="roundRect">
            <a:avLst>
              <a:gd name="adj" fmla="val 2667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3518100" y="2412187"/>
            <a:ext cx="411210" cy="411210"/>
          </a:xfrm>
          <a:prstGeom prst="ellipse">
            <a:avLst/>
          </a:prstGeom>
          <a:solidFill>
            <a:srgbClr val="2f9c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3518100" y="2412187"/>
            <a:ext cx="41121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3518100" y="2994660"/>
            <a:ext cx="212571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Meio do semestre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3518100" y="3817620"/>
            <a:ext cx="2125710" cy="15316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Um app com páginas próprias (Router), estado global (Pinia) e dados salvos no banco.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5870340" y="3372307"/>
            <a:ext cx="287820" cy="2740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d6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5"/>
          <p:cNvSpPr/>
          <p:nvPr/>
        </p:nvSpPr>
        <p:spPr>
          <a:xfrm>
            <a:off x="6144660" y="2171700"/>
            <a:ext cx="2571480" cy="3314700"/>
          </a:xfrm>
          <a:prstGeom prst="roundRect">
            <a:avLst>
              <a:gd name="adj" fmla="val 2667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6384690" y="2412187"/>
            <a:ext cx="411210" cy="411210"/>
          </a:xfrm>
          <a:prstGeom prst="ellipse">
            <a:avLst/>
          </a:prstGeom>
          <a:solidFill>
            <a:srgbClr val="8a6d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6384690" y="2412187"/>
            <a:ext cx="41121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6384690" y="2994660"/>
            <a:ext cx="212571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Trabalho Final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6384690" y="3817620"/>
            <a:ext cx="2125710" cy="15316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Um sistema CRUD completo, com tema escolhido por você: API própria + front-end em Vue.js.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11480" y="825703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2f9c6e"/>
                </a:solidFill>
                <a:latin typeface="Calibri"/>
                <a:ea typeface="Calibri"/>
              </a:rPr>
              <a:t>O MÉTODO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11480" y="1071677"/>
            <a:ext cx="75435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a33"/>
                </a:solidFill>
                <a:latin typeface="Cambria"/>
                <a:ea typeface="Cambria"/>
              </a:rPr>
              <a:t>Como vamos aprender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411480" y="1909267"/>
            <a:ext cx="4011660" cy="1737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617220" y="2115007"/>
            <a:ext cx="342630" cy="342630"/>
          </a:xfrm>
          <a:prstGeom prst="ellipse">
            <a:avLst/>
          </a:prstGeom>
          <a:solidFill>
            <a:srgbClr val="42b8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617220" y="2115007"/>
            <a:ext cx="342630" cy="3426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1097280" y="2060143"/>
            <a:ext cx="3154410" cy="62819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Mão na massa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617220" y="2743200"/>
            <a:ext cx="3634470" cy="81107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Cada aula abre um código pra explorar ou um desafio, pra dar sentido ao que você já viu.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4629150" y="1909267"/>
            <a:ext cx="4011660" cy="1737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4834890" y="2115007"/>
            <a:ext cx="342630" cy="342630"/>
          </a:xfrm>
          <a:prstGeom prst="ellipse">
            <a:avLst/>
          </a:prstGeom>
          <a:solidFill>
            <a:srgbClr val="42b8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4834890" y="2115007"/>
            <a:ext cx="342630" cy="3426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314950" y="2060143"/>
            <a:ext cx="3154410" cy="62819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Um projeto que cresce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4834890" y="2743200"/>
            <a:ext cx="3634470" cy="81107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A mesma Lista de Tarefas ganha uma peça nova a cada aula, até virar a base do seu Trabalho Final.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411480" y="3756355"/>
            <a:ext cx="4011660" cy="1737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617220" y="3962095"/>
            <a:ext cx="342630" cy="342630"/>
          </a:xfrm>
          <a:prstGeom prst="ellipse">
            <a:avLst/>
          </a:prstGeom>
          <a:solidFill>
            <a:srgbClr val="42b8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617220" y="3962095"/>
            <a:ext cx="342630" cy="3426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1097280" y="3907231"/>
            <a:ext cx="3154410" cy="62819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Desafios no seu ritmo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17220" y="4590288"/>
            <a:ext cx="3634470" cy="81107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Cada módulo tem níveis extras pra quem quer ir além.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4629150" y="3756355"/>
            <a:ext cx="4011660" cy="1737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4834890" y="3962095"/>
            <a:ext cx="342630" cy="342630"/>
          </a:xfrm>
          <a:prstGeom prst="ellipse">
            <a:avLst/>
          </a:prstGeom>
          <a:solidFill>
            <a:srgbClr val="42b8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4834890" y="3962095"/>
            <a:ext cx="342630" cy="3426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5314950" y="3907231"/>
            <a:ext cx="3154410" cy="62819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Reflexão no fim de cada aula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4834890" y="4590288"/>
            <a:ext cx="3634470" cy="81107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Você formaliza o que aprendeu com suas próprias palavras, não só recebe a definição pronta.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777240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2f9c6e"/>
                </a:solidFill>
                <a:latin typeface="Calibri"/>
                <a:ea typeface="Calibri"/>
              </a:rPr>
              <a:t>O MAPA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1024128"/>
            <a:ext cx="75435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a33"/>
                </a:solidFill>
                <a:latin typeface="Cambria"/>
                <a:ea typeface="Cambria"/>
              </a:rPr>
              <a:t>Trilha do curso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411480" y="1645920"/>
            <a:ext cx="20571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48" strike="noStrike">
                <a:solidFill>
                  <a:srgbClr val="35495e"/>
                </a:solidFill>
                <a:latin typeface="Calibri"/>
                <a:ea typeface="Calibri"/>
              </a:rPr>
              <a:t>BACK-END · API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411480" y="2011680"/>
            <a:ext cx="2651760" cy="868680"/>
          </a:xfrm>
          <a:prstGeom prst="roundRect">
            <a:avLst>
              <a:gd name="adj" fmla="val 5333"/>
            </a:avLst>
          </a:prstGeom>
          <a:solidFill>
            <a:srgbClr val="3549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548640" y="2084832"/>
            <a:ext cx="2377440" cy="29260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Fundamentos de API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548640" y="2404872"/>
            <a:ext cx="237744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7d6dd"/>
                </a:solidFill>
                <a:latin typeface="Calibri"/>
                <a:ea typeface="Calibri"/>
              </a:rPr>
              <a:t>API REST, rotas, JSON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3246120" y="2011680"/>
            <a:ext cx="2651760" cy="868680"/>
          </a:xfrm>
          <a:prstGeom prst="roundRect">
            <a:avLst>
              <a:gd name="adj" fmla="val 5333"/>
            </a:avLst>
          </a:prstGeom>
          <a:solidFill>
            <a:srgbClr val="3549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3383280" y="2084832"/>
            <a:ext cx="2377440" cy="29260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API Laravel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3383280" y="2404872"/>
            <a:ext cx="237744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7d6dd"/>
                </a:solidFill>
                <a:latin typeface="Calibri"/>
                <a:ea typeface="Calibri"/>
              </a:rPr>
              <a:t>CRUD com banco de dados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6080760" y="2011680"/>
            <a:ext cx="2651760" cy="868680"/>
          </a:xfrm>
          <a:prstGeom prst="roundRect">
            <a:avLst>
              <a:gd name="adj" fmla="val 5333"/>
            </a:avLst>
          </a:prstGeom>
          <a:solidFill>
            <a:srgbClr val="3549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6217920" y="2084832"/>
            <a:ext cx="2377440" cy="29260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Relacionamentos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6217920" y="2404872"/>
            <a:ext cx="2377440" cy="38404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7d6dd"/>
                </a:solidFill>
                <a:latin typeface="Calibri"/>
                <a:ea typeface="Calibri"/>
              </a:rPr>
              <a:t>modelos conectados entre si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4160520" y="2971800"/>
            <a:ext cx="822960" cy="822960"/>
          </a:xfrm>
          <a:prstGeom prst="ellipse">
            <a:avLst/>
          </a:prstGeom>
          <a:solidFill>
            <a:srgbClr val="42b883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4160520" y="2971800"/>
            <a:ext cx="82296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Axios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411480" y="3913632"/>
            <a:ext cx="20571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48" strike="noStrike">
                <a:solidFill>
                  <a:srgbClr val="2f9c6e"/>
                </a:solidFill>
                <a:latin typeface="Calibri"/>
                <a:ea typeface="Calibri"/>
              </a:rPr>
              <a:t>FRONT-END · VUE.JS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411480" y="4297680"/>
            <a:ext cx="4069080" cy="914400"/>
          </a:xfrm>
          <a:prstGeom prst="roundRect">
            <a:avLst>
              <a:gd name="adj" fmla="val 6667"/>
            </a:avLst>
          </a:prstGeom>
          <a:solidFill>
            <a:srgbClr val="f2faf7"/>
          </a:solidFill>
          <a:ln w="12700">
            <a:solidFill>
              <a:srgbClr val="cfe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548640" y="4370832"/>
            <a:ext cx="37947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a33"/>
                </a:solidFill>
                <a:latin typeface="Cambria"/>
                <a:ea typeface="Cambria"/>
              </a:rPr>
              <a:t>Fundamentos Vue.js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548640" y="4672584"/>
            <a:ext cx="3794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componentes, diretivas, Composition API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4663440" y="4297680"/>
            <a:ext cx="4069080" cy="914400"/>
          </a:xfrm>
          <a:prstGeom prst="roundRect">
            <a:avLst>
              <a:gd name="adj" fmla="val 6667"/>
            </a:avLst>
          </a:prstGeom>
          <a:solidFill>
            <a:srgbClr val="f2faf7"/>
          </a:solidFill>
          <a:ln w="12700">
            <a:solidFill>
              <a:srgbClr val="cfe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4800600" y="4370832"/>
            <a:ext cx="37947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a33"/>
                </a:solidFill>
                <a:latin typeface="Cambria"/>
                <a:ea typeface="Cambria"/>
              </a:rPr>
              <a:t>Interatividade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4800600" y="4672584"/>
            <a:ext cx="3794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eventos, propriedades computadas, estado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1"/>
          <p:cNvSpPr/>
          <p:nvPr/>
        </p:nvSpPr>
        <p:spPr>
          <a:xfrm>
            <a:off x="411480" y="5349240"/>
            <a:ext cx="4069080" cy="914400"/>
          </a:xfrm>
          <a:prstGeom prst="roundRect">
            <a:avLst>
              <a:gd name="adj" fmla="val 6667"/>
            </a:avLst>
          </a:prstGeom>
          <a:solidFill>
            <a:srgbClr val="f2faf7"/>
          </a:solidFill>
          <a:ln w="12700">
            <a:solidFill>
              <a:srgbClr val="cfe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548640" y="5422392"/>
            <a:ext cx="37947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a33"/>
                </a:solidFill>
                <a:latin typeface="Cambria"/>
                <a:ea typeface="Cambria"/>
              </a:rPr>
              <a:t>Ciclo de vida &amp; Pinia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548640" y="5724144"/>
            <a:ext cx="3794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observadores, estado global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4663440" y="5349240"/>
            <a:ext cx="4069080" cy="914400"/>
          </a:xfrm>
          <a:prstGeom prst="roundRect">
            <a:avLst>
              <a:gd name="adj" fmla="val 6667"/>
            </a:avLst>
          </a:prstGeom>
          <a:solidFill>
            <a:srgbClr val="f2faf7"/>
          </a:solidFill>
          <a:ln w="12700">
            <a:solidFill>
              <a:srgbClr val="cfe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4800600" y="5422392"/>
            <a:ext cx="379476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a33"/>
                </a:solidFill>
                <a:latin typeface="Cambria"/>
                <a:ea typeface="Cambria"/>
              </a:rPr>
              <a:t>Integração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4800600" y="5724144"/>
            <a:ext cx="3794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Vue Router e Axios consumindo a API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7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11480" y="1145340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2f9c6e"/>
                </a:solidFill>
                <a:latin typeface="Calibri"/>
                <a:ea typeface="Calibri"/>
              </a:rPr>
              <a:t>A PONTE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11480" y="1392120"/>
            <a:ext cx="75435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a33"/>
                </a:solidFill>
                <a:latin typeface="Cambria"/>
                <a:ea typeface="Cambria"/>
              </a:rPr>
              <a:t>Onde tudo se conecta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617220" y="2846070"/>
            <a:ext cx="2400030" cy="1508490"/>
          </a:xfrm>
          <a:prstGeom prst="roundRect">
            <a:avLst>
              <a:gd name="adj" fmla="val 4545"/>
            </a:avLst>
          </a:prstGeom>
          <a:solidFill>
            <a:srgbClr val="42b883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822960" y="3086100"/>
            <a:ext cx="198855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Vue.js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822960" y="3497580"/>
            <a:ext cx="1988550" cy="7541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7f0ec"/>
                </a:solidFill>
                <a:latin typeface="Calibri"/>
                <a:ea typeface="Calibri"/>
              </a:rPr>
              <a:t>Interface — o que o usuário vê e usa.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072330" y="3429000"/>
            <a:ext cx="376920" cy="3426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c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3394710" y="2846070"/>
            <a:ext cx="2400030" cy="1508490"/>
          </a:xfrm>
          <a:prstGeom prst="roundRect">
            <a:avLst>
              <a:gd name="adj" fmla="val 4545"/>
            </a:avLst>
          </a:prstGeom>
          <a:solidFill>
            <a:srgbClr val="35495e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3600450" y="3086100"/>
            <a:ext cx="198855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Axios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3600450" y="3497580"/>
            <a:ext cx="1988550" cy="7541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7f0ec"/>
                </a:solidFill>
                <a:latin typeface="Calibri"/>
                <a:ea typeface="Calibri"/>
              </a:rPr>
              <a:t>Leva e traz dados via HTTP.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5849820" y="3429000"/>
            <a:ext cx="376920" cy="3426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c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6172200" y="2846070"/>
            <a:ext cx="2400030" cy="1508490"/>
          </a:xfrm>
          <a:prstGeom prst="roundRect">
            <a:avLst>
              <a:gd name="adj" fmla="val 4545"/>
            </a:avLst>
          </a:prstGeom>
          <a:solidFill>
            <a:srgbClr val="263646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6377940" y="3086100"/>
            <a:ext cx="198855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Laravel API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6377940" y="3497580"/>
            <a:ext cx="1988550" cy="7541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7f0ec"/>
                </a:solidFill>
                <a:latin typeface="Calibri"/>
                <a:ea typeface="Calibri"/>
              </a:rPr>
              <a:t>Regras de negócio e acesso ao banco.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617220" y="4629150"/>
            <a:ext cx="754353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2f9c6e"/>
                </a:solidFill>
                <a:latin typeface="Cambria"/>
                <a:ea typeface="Cambria"/>
              </a:rPr>
              <a:t>Sem essa ponte, o Vue.js só mostra dados fixos. É o Axios que transforma seu front-end em um sistema de verdade.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11480" y="1145340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2f9c6e"/>
                </a:solidFill>
                <a:latin typeface="Calibri"/>
                <a:ea typeface="Calibri"/>
              </a:rPr>
              <a:t>AVALIAÇÃO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11480" y="1392120"/>
            <a:ext cx="75435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a33"/>
                </a:solidFill>
                <a:latin typeface="Cambria"/>
                <a:ea typeface="Cambria"/>
              </a:rPr>
              <a:t>Como sua nota é composta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617220" y="2331720"/>
            <a:ext cx="2297160" cy="2434320"/>
          </a:xfrm>
          <a:prstGeom prst="roundRect">
            <a:avLst>
              <a:gd name="adj" fmla="val 2985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617220" y="2503170"/>
            <a:ext cx="2297160" cy="10970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42b883"/>
                </a:solidFill>
                <a:latin typeface="Cambria"/>
                <a:ea typeface="Cambria"/>
              </a:rPr>
              <a:t>3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617220" y="3634740"/>
            <a:ext cx="229716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Atividades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Práticas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617220" y="4183380"/>
            <a:ext cx="229716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pontos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3154680" y="2331720"/>
            <a:ext cx="2297160" cy="2434320"/>
          </a:xfrm>
          <a:prstGeom prst="roundRect">
            <a:avLst>
              <a:gd name="adj" fmla="val 2985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3154680" y="2503170"/>
            <a:ext cx="2297160" cy="10970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35495e"/>
                </a:solidFill>
                <a:latin typeface="Cambria"/>
                <a:ea typeface="Cambria"/>
              </a:rPr>
              <a:t>4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3154680" y="3634740"/>
            <a:ext cx="229716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Prova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3154680" y="4183380"/>
            <a:ext cx="229716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pontos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5692140" y="2331720"/>
            <a:ext cx="2297160" cy="2434320"/>
          </a:xfrm>
          <a:prstGeom prst="roundRect">
            <a:avLst>
              <a:gd name="adj" fmla="val 2985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5692140" y="2503170"/>
            <a:ext cx="2297160" cy="10970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8a6d3b"/>
                </a:solidFill>
                <a:latin typeface="Cambria"/>
                <a:ea typeface="Cambria"/>
              </a:rPr>
              <a:t>3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5692140" y="3634740"/>
            <a:ext cx="229716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Trabalho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Final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5692140" y="4183380"/>
            <a:ext cx="229716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pontos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2880360" y="2880360"/>
            <a:ext cx="342630" cy="6855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7d6ce"/>
                </a:solidFill>
                <a:latin typeface="Cambria"/>
                <a:ea typeface="Cambria"/>
              </a:rPr>
              <a:t>+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417820" y="2880360"/>
            <a:ext cx="342630" cy="6855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c7d6ce"/>
                </a:solidFill>
                <a:latin typeface="Cambria"/>
                <a:ea typeface="Cambria"/>
              </a:rPr>
              <a:t>+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617220" y="4972050"/>
            <a:ext cx="7886430" cy="514080"/>
          </a:xfrm>
          <a:prstGeom prst="roundRect">
            <a:avLst>
              <a:gd name="adj" fmla="val 10667"/>
            </a:avLst>
          </a:prstGeom>
          <a:solidFill>
            <a:srgbClr val="3549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617220" y="4972050"/>
            <a:ext cx="788643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Nota final = soma das três partes  →  10 pontos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06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145340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2f9c6e"/>
                </a:solidFill>
                <a:latin typeface="Calibri"/>
                <a:ea typeface="Calibri"/>
              </a:rPr>
              <a:t>AVALIAÇÃO — 3 PONTOS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1392120"/>
            <a:ext cx="75435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a33"/>
                </a:solidFill>
                <a:latin typeface="Cambria"/>
                <a:ea typeface="Cambria"/>
              </a:rPr>
              <a:t>Atividades Práticas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411480" y="1920240"/>
            <a:ext cx="788643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Pequenos exercícios de código, feitos ao longo do semestre — a aplicação direta de cada módulo visto em aula.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411480" y="2606040"/>
            <a:ext cx="205470" cy="20547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225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788670" y="2523690"/>
            <a:ext cx="740637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e2a33"/>
                </a:solidFill>
                <a:latin typeface="Calibri"/>
                <a:ea typeface="Calibri"/>
              </a:rPr>
              <a:t>Exercício entregue em prazo definido em aula.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411480" y="3188970"/>
            <a:ext cx="205470" cy="20547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225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88670" y="3106620"/>
            <a:ext cx="740637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e2a33"/>
                </a:solidFill>
                <a:latin typeface="Calibri"/>
                <a:ea typeface="Calibri"/>
              </a:rPr>
              <a:t>Foco em praticar o que foi construído em sala.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411480" y="3771900"/>
            <a:ext cx="205470" cy="20547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225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788670" y="3689550"/>
            <a:ext cx="740637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e2a33"/>
                </a:solidFill>
                <a:latin typeface="Calibri"/>
                <a:ea typeface="Calibri"/>
              </a:rPr>
              <a:t>Vale mais o raciocínio e a tentativa registrada do que o código perfeito.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411480" y="4354830"/>
            <a:ext cx="205470" cy="20547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225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788670" y="4272480"/>
            <a:ext cx="740637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e2a33"/>
                </a:solidFill>
                <a:latin typeface="Calibri"/>
                <a:ea typeface="Calibri"/>
              </a:rPr>
              <a:t>É o espaço ideal para se desafiar, buscar conhecimentos além do que foi trabalhado em sala.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07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11480" y="1145340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2f9c6e"/>
                </a:solidFill>
                <a:latin typeface="Calibri"/>
                <a:ea typeface="Calibri"/>
              </a:rPr>
              <a:t>AVALIAÇÃO — 4 PONTOS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411480" y="1392120"/>
            <a:ext cx="75435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a33"/>
                </a:solidFill>
                <a:latin typeface="Cambria"/>
                <a:ea typeface="Cambria"/>
              </a:rPr>
              <a:t>Prova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11480" y="1920240"/>
            <a:ext cx="78864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73"/>
                </a:solidFill>
                <a:latin typeface="Calibri"/>
                <a:ea typeface="Calibri"/>
              </a:rPr>
              <a:t>Avaliação individual: momento para validar o conhecimento que você já construiu em sala de aula.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411480" y="2811780"/>
            <a:ext cx="2571480" cy="1782810"/>
          </a:xfrm>
          <a:prstGeom prst="roundRect">
            <a:avLst>
              <a:gd name="adj" fmla="val 3846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617220" y="3017520"/>
            <a:ext cx="2194290" cy="5483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Conteúdo acumulativo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617220" y="3566160"/>
            <a:ext cx="2194290" cy="8912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Reúne Vue.js e API/Laravel vistos até a data da prova.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3188970" y="2811780"/>
            <a:ext cx="2571480" cy="1782810"/>
          </a:xfrm>
          <a:prstGeom prst="roundRect">
            <a:avLst>
              <a:gd name="adj" fmla="val 3846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3394710" y="3017520"/>
            <a:ext cx="2194290" cy="5483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Formato prático/teórico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3394710" y="3566160"/>
            <a:ext cx="2194290" cy="8912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Você responde como foi aprendido durante o desenvolvimento nas aulas.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5966460" y="2811780"/>
            <a:ext cx="2571480" cy="1782810"/>
          </a:xfrm>
          <a:prstGeom prst="roundRect">
            <a:avLst>
              <a:gd name="adj" fmla="val 3846"/>
            </a:avLst>
          </a:prstGeom>
          <a:solidFill>
            <a:srgbClr val="f2faf7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6172200" y="3017520"/>
            <a:ext cx="2194290" cy="5483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2a33"/>
                </a:solidFill>
                <a:latin typeface="Cambria"/>
                <a:ea typeface="Cambria"/>
              </a:rPr>
              <a:t>Sem consulta ao material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6172200" y="3566160"/>
            <a:ext cx="2194290" cy="8912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73"/>
                </a:solidFill>
                <a:latin typeface="Calibri"/>
                <a:ea typeface="Calibri"/>
              </a:rPr>
              <a:t>Regras específicas são combinadas antes da prova.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08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5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-1371600" y="4080510"/>
            <a:ext cx="4114530" cy="4114530"/>
          </a:xfrm>
          <a:prstGeom prst="ellipse">
            <a:avLst/>
          </a:prstGeom>
          <a:solidFill>
            <a:srgbClr val="2636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411480" y="1145340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42b883"/>
                </a:solidFill>
                <a:latin typeface="Calibri"/>
                <a:ea typeface="Calibri"/>
              </a:rPr>
              <a:t>AVALIAÇÃO — 3 PONTOS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411480" y="1440180"/>
            <a:ext cx="5486130" cy="5483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Trabalho Final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411480" y="1920240"/>
            <a:ext cx="493749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7d6dd"/>
                </a:solidFill>
                <a:latin typeface="Calibri"/>
                <a:ea typeface="Calibri"/>
              </a:rPr>
              <a:t>Um sistema completo, com tema escolhido por você — a soma de tudo que a disciplina construiu.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411480" y="2503170"/>
            <a:ext cx="177930" cy="17793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740610" y="2427840"/>
            <a:ext cx="4731750" cy="3288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7f3ee"/>
                </a:solidFill>
                <a:latin typeface="Calibri"/>
                <a:ea typeface="Calibri"/>
              </a:rPr>
              <a:t>API própria para o sistema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411480" y="2900880"/>
            <a:ext cx="177930" cy="17793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740610" y="2825550"/>
            <a:ext cx="4731750" cy="3288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7f3ee"/>
                </a:solidFill>
                <a:latin typeface="Calibri"/>
                <a:ea typeface="Calibri"/>
              </a:rPr>
              <a:t>Front-end completo em Vue.js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411480" y="3298590"/>
            <a:ext cx="177930" cy="17793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740610" y="3223260"/>
            <a:ext cx="4731750" cy="3288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7f3ee"/>
                </a:solidFill>
                <a:latin typeface="Calibri"/>
                <a:ea typeface="Calibri"/>
              </a:rPr>
              <a:t>Páginas com endereço próprio (Router)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411480" y="3696570"/>
            <a:ext cx="177930" cy="17793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740610" y="3620970"/>
            <a:ext cx="4731750" cy="3288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7f3ee"/>
                </a:solidFill>
                <a:latin typeface="Calibri"/>
                <a:ea typeface="Calibri"/>
              </a:rPr>
              <a:t>Estado global com Pinia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411480" y="4094280"/>
            <a:ext cx="177930" cy="17793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740610" y="4018680"/>
            <a:ext cx="4731750" cy="3288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7f3ee"/>
                </a:solidFill>
                <a:latin typeface="Calibri"/>
                <a:ea typeface="Calibri"/>
              </a:rPr>
              <a:t>Usabilidade avaliada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411480" y="4491990"/>
            <a:ext cx="177930" cy="17793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740610" y="4416660"/>
            <a:ext cx="4731750" cy="3288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7f3ee"/>
                </a:solidFill>
                <a:latin typeface="Calibri"/>
                <a:ea typeface="Calibri"/>
              </a:rPr>
              <a:t>Versionado no Git (link do repositório)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411480" y="4889700"/>
            <a:ext cx="177930" cy="17793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740610" y="4814370"/>
            <a:ext cx="4731750" cy="3288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7f3ee"/>
                </a:solidFill>
                <a:latin typeface="Calibri"/>
                <a:ea typeface="Calibri"/>
              </a:rPr>
              <a:t>Feedback ao usuário (sucesso, erro, validação)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5520690" y="2503170"/>
            <a:ext cx="3222990" cy="3017250"/>
          </a:xfrm>
          <a:prstGeom prst="roundRect">
            <a:avLst>
              <a:gd name="adj" fmla="val 2273"/>
            </a:avLst>
          </a:prstGeom>
          <a:solidFill>
            <a:srgbClr val="263646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b2b36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5726430" y="2674620"/>
            <a:ext cx="281151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42b883"/>
                </a:solidFill>
                <a:latin typeface="Calibri"/>
                <a:ea typeface="Calibri"/>
              </a:rPr>
              <a:t>TEMA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5726430" y="2948940"/>
            <a:ext cx="2811510" cy="8912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7f3ee"/>
                </a:solidFill>
                <a:latin typeface="Calibri"/>
                <a:ea typeface="Calibri"/>
              </a:rPr>
              <a:t>Livre, a critério do grupo. Pode ser a evolução de um tema que você já conhece, desde que use banco de dados e CRUD completo.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5726430" y="3943350"/>
            <a:ext cx="281151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42b883"/>
                </a:solidFill>
                <a:latin typeface="Calibri"/>
                <a:ea typeface="Calibri"/>
              </a:rPr>
              <a:t>ENTREGA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5726430" y="4217670"/>
            <a:ext cx="2811510" cy="89127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7f3ee"/>
                </a:solidFill>
                <a:latin typeface="Calibri"/>
                <a:ea typeface="Calibri"/>
              </a:rPr>
              <a:t>Código-fonte + API (link do repositório) e apresentação oral do sistema funcionando.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3"/>
          <p:cNvSpPr/>
          <p:nvPr/>
        </p:nvSpPr>
        <p:spPr>
          <a:xfrm>
            <a:off x="8526600" y="5623560"/>
            <a:ext cx="34263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73"/>
                </a:solidFill>
                <a:latin typeface="Calibri"/>
                <a:ea typeface="Calibri"/>
              </a:rPr>
              <a:t>09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5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6583680" y="-651510"/>
            <a:ext cx="4457430" cy="4457430"/>
          </a:xfrm>
          <a:prstGeom prst="ellipse">
            <a:avLst/>
          </a:prstGeom>
          <a:solidFill>
            <a:srgbClr val="2636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411480" y="1145340"/>
            <a:ext cx="6857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42b883"/>
                </a:solidFill>
                <a:latin typeface="Calibri"/>
                <a:ea typeface="Calibri"/>
              </a:rPr>
              <a:t>PRÓXIMA AULA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411480" y="1611630"/>
            <a:ext cx="6857730" cy="6169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Aula 01 — Revisão de JavaScript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411480" y="2194560"/>
            <a:ext cx="5829030" cy="47979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7d6dd"/>
                </a:solidFill>
                <a:latin typeface="Calibri"/>
                <a:ea typeface="Calibri"/>
              </a:rPr>
              <a:t>Antes de reagir com Vue.js, vamos relembrar o JavaScript que sustenta tudo: variáveis, funções, DOM e eventos.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411480" y="2983230"/>
            <a:ext cx="41145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42b883"/>
                </a:solidFill>
                <a:latin typeface="Calibri"/>
                <a:ea typeface="Calibri"/>
              </a:rPr>
              <a:t>DÚVIDAS SOBRE A DISCIPLINA?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411480" y="3257550"/>
            <a:ext cx="4800330" cy="41121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7f3ee"/>
                </a:solidFill>
                <a:latin typeface="Calibri"/>
                <a:ea typeface="Calibri"/>
              </a:rPr>
              <a:t>Pergunte agora.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411480" y="4011930"/>
            <a:ext cx="41145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42b883"/>
                </a:solidFill>
                <a:latin typeface="Calibri"/>
                <a:ea typeface="Calibri"/>
              </a:rPr>
              <a:t>REFERÊNCIAS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411480" y="4286250"/>
            <a:ext cx="4457430" cy="34263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7f3ee"/>
                </a:solidFill>
                <a:latin typeface="Calibri"/>
                <a:ea typeface="Calibri"/>
              </a:rPr>
              <a:t>vuejs.org  ·  laravel.com/docs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411480" y="5554980"/>
            <a:ext cx="3428730" cy="27405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ca0ac"/>
                </a:solidFill>
                <a:latin typeface="Calibri"/>
                <a:ea typeface="Calibri"/>
              </a:rPr>
              <a:t>Prof. Diego Rossi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2026-07-28T19:59:42Z</dcterms:created>
  <dc:creator>PptxGenJS</dc:creator>
  <dc:description/>
  <dc:language>pt-BR</dc:language>
  <cp:lastModifiedBy/>
  <dcterms:modified xsi:type="dcterms:W3CDTF">2026-07-28T17:30:19Z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